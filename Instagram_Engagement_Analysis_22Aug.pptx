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schemas.openxmlformats.org/officeDocument/2006/relationships/slide" Target="slides/slide20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E4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4C3AA8">
              <a:alpha val="6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2194560" y="4206240"/>
            <a:ext cx="4754880" cy="4754880"/>
          </a:xfrm>
          <a:prstGeom prst="ellipse">
            <a:avLst/>
          </a:prstGeom>
          <a:solidFill>
            <a:srgbClr val="C1327A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925310" y="39319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BEF0"/>
              </a:buClr>
              <a:buSzPts val="1500"/>
              <a:buFont typeface="Calibri"/>
              <a:buNone/>
            </a:pPr>
            <a:r>
              <a:rPr i="1" lang="en-US" sz="1900">
                <a:solidFill>
                  <a:srgbClr val="C9BEF0"/>
                </a:solidFill>
                <a:latin typeface="Calibri"/>
                <a:ea typeface="Calibri"/>
                <a:cs typeface="Calibri"/>
                <a:sym typeface="Calibri"/>
              </a:rPr>
              <a:t>POOJA HEERA | 22/08/2026</a:t>
            </a:r>
            <a:endParaRPr i="1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22950" y="2654500"/>
            <a:ext cx="10058400" cy="8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lang="en-US" sz="3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INSTAGRAM USER ENGAGEMENT ANALYSIS</a:t>
            </a:r>
            <a:endParaRPr b="1" sz="340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22960" y="57607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BEF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9BEF0"/>
                </a:solidFill>
                <a:latin typeface="Calibri"/>
                <a:ea typeface="Calibri"/>
                <a:cs typeface="Calibri"/>
                <a:sym typeface="Calibri"/>
              </a:rPr>
              <a:t>Data Analytics Team  •  Marketing Insights Review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925310" y="3473195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BEF0"/>
              </a:buClr>
              <a:buSzPts val="1500"/>
              <a:buFont typeface="Calibri"/>
              <a:buNone/>
            </a:pPr>
            <a:r>
              <a:rPr i="1" lang="en-US" sz="1900">
                <a:solidFill>
                  <a:srgbClr val="C9BEF0"/>
                </a:solidFill>
                <a:latin typeface="Calibri"/>
                <a:ea typeface="Calibri"/>
                <a:cs typeface="Calibri"/>
                <a:sym typeface="Calibri"/>
              </a:rPr>
              <a:t>What Our Data Tells Us About Engagement, Retention &amp; Growth</a:t>
            </a:r>
            <a:endParaRPr i="1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E4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41E4E"/>
                </a:solidFill>
                <a:latin typeface="Cambria"/>
                <a:ea typeface="Cambria"/>
                <a:cs typeface="Cambria"/>
                <a:sym typeface="Cambria"/>
              </a:rPr>
              <a:t>What We'll Cover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548640" y="987552"/>
            <a:ext cx="110916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A data-driven look at how our users really behave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640080" y="1737360"/>
            <a:ext cx="566928" cy="566928"/>
          </a:xfrm>
          <a:prstGeom prst="ellipse">
            <a:avLst/>
          </a:prstGeom>
          <a:solidFill>
            <a:srgbClr val="4C3A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640080" y="173736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417320" y="1691640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E4E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241E4E"/>
                </a:solidFill>
                <a:latin typeface="Calibri"/>
                <a:ea typeface="Calibri"/>
                <a:cs typeface="Calibri"/>
                <a:sym typeface="Calibri"/>
              </a:rPr>
              <a:t>The Dataset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417320" y="2029968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Scale and quality of the data behind this analysis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40080" y="2651760"/>
            <a:ext cx="566928" cy="566928"/>
          </a:xfrm>
          <a:prstGeom prst="ellipse">
            <a:avLst/>
          </a:prstGeom>
          <a:solidFill>
            <a:srgbClr val="4C3A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640080" y="265176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417320" y="2606040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E4E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241E4E"/>
                </a:solidFill>
                <a:latin typeface="Calibri"/>
                <a:ea typeface="Calibri"/>
                <a:cs typeface="Calibri"/>
                <a:sym typeface="Calibri"/>
              </a:rPr>
              <a:t>Two Hidden User Tiers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417320" y="2944368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Every user falls into one of two very different network roles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40080" y="3566160"/>
            <a:ext cx="566928" cy="566928"/>
          </a:xfrm>
          <a:prstGeom prst="ellipse">
            <a:avLst/>
          </a:prstGeom>
          <a:solidFill>
            <a:srgbClr val="4C3A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640080" y="356616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417320" y="3520440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E4E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241E4E"/>
                </a:solidFill>
                <a:latin typeface="Calibri"/>
                <a:ea typeface="Calibri"/>
                <a:cs typeface="Calibri"/>
                <a:sym typeface="Calibri"/>
              </a:rPr>
              <a:t>Where Engagement Really Comes From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417320" y="3858768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A small group of users drives a disproportionate share of activity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40080" y="4480560"/>
            <a:ext cx="566928" cy="566928"/>
          </a:xfrm>
          <a:prstGeom prst="ellipse">
            <a:avLst/>
          </a:prstGeom>
          <a:solidFill>
            <a:srgbClr val="4C3A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640080" y="448056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417320" y="4434840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E4E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241E4E"/>
                </a:solidFill>
                <a:latin typeface="Calibri"/>
                <a:ea typeface="Calibri"/>
                <a:cs typeface="Calibri"/>
                <a:sym typeface="Calibri"/>
              </a:rPr>
              <a:t>Hashtags: Popular vs. High-Performing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417320" y="4773168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The most-used hashtag isn't the best-performing one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40080" y="5394960"/>
            <a:ext cx="566928" cy="566928"/>
          </a:xfrm>
          <a:prstGeom prst="ellipse">
            <a:avLst/>
          </a:prstGeom>
          <a:solidFill>
            <a:srgbClr val="4C3A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640080" y="539496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417320" y="5349240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E4E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241E4E"/>
                </a:solidFill>
                <a:latin typeface="Calibri"/>
                <a:ea typeface="Calibri"/>
                <a:cs typeface="Calibri"/>
                <a:sym typeface="Calibri"/>
              </a:rPr>
              <a:t>Recommendations &amp; KPIs to Track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417320" y="5687568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Segment-specific actions and the dashboard to monitor them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Instagram User Engagement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E4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41E4E"/>
                </a:solidFill>
                <a:latin typeface="Cambria"/>
                <a:ea typeface="Cambria"/>
                <a:cs typeface="Cambria"/>
                <a:sym typeface="Cambria"/>
              </a:rPr>
              <a:t>The Dataset at a Glance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48640" y="987552"/>
            <a:ext cx="110916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One snapshot of our Instagram-style platform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48640" y="1828800"/>
            <a:ext cx="3520440" cy="1737360"/>
          </a:xfrm>
          <a:prstGeom prst="roundRect">
            <a:avLst>
              <a:gd fmla="val 4211" name="adj"/>
            </a:avLst>
          </a:prstGeom>
          <a:solidFill>
            <a:srgbClr val="F7F5FC"/>
          </a:solidFill>
          <a:ln cap="flat" cmpd="sng" w="12700">
            <a:solidFill>
              <a:srgbClr val="E4DFF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C8C9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548640" y="1938528"/>
            <a:ext cx="3520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3AA8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4C3AA8"/>
                </a:solidFill>
                <a:latin typeface="Cambria"/>
                <a:ea typeface="Cambria"/>
                <a:cs typeface="Cambria"/>
                <a:sym typeface="Cambria"/>
              </a:rPr>
              <a:t>100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640080" y="3063240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A2A38"/>
                </a:solidFill>
                <a:latin typeface="Calibri"/>
                <a:ea typeface="Calibri"/>
                <a:cs typeface="Calibri"/>
                <a:sym typeface="Calibri"/>
              </a:rPr>
              <a:t>Users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297680" y="1828800"/>
            <a:ext cx="3520440" cy="1737360"/>
          </a:xfrm>
          <a:prstGeom prst="roundRect">
            <a:avLst>
              <a:gd fmla="val 4211" name="adj"/>
            </a:avLst>
          </a:prstGeom>
          <a:solidFill>
            <a:srgbClr val="F7F5FC"/>
          </a:solidFill>
          <a:ln cap="flat" cmpd="sng" w="12700">
            <a:solidFill>
              <a:srgbClr val="E4DFF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C8C9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4297680" y="1938528"/>
            <a:ext cx="3520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327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C1327A"/>
                </a:solidFill>
                <a:latin typeface="Cambria"/>
                <a:ea typeface="Cambria"/>
                <a:cs typeface="Cambria"/>
                <a:sym typeface="Cambria"/>
              </a:rPr>
              <a:t>257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4389120" y="3063240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A2A38"/>
                </a:solidFill>
                <a:latin typeface="Calibri"/>
                <a:ea typeface="Calibri"/>
                <a:cs typeface="Calibri"/>
                <a:sym typeface="Calibri"/>
              </a:rPr>
              <a:t>Posts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8046720" y="1828800"/>
            <a:ext cx="3520440" cy="1737360"/>
          </a:xfrm>
          <a:prstGeom prst="roundRect">
            <a:avLst>
              <a:gd fmla="val 4211" name="adj"/>
            </a:avLst>
          </a:prstGeom>
          <a:solidFill>
            <a:srgbClr val="F7F5FC"/>
          </a:solidFill>
          <a:ln cap="flat" cmpd="sng" w="12700">
            <a:solidFill>
              <a:srgbClr val="E4DFF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C8C9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8046720" y="1938528"/>
            <a:ext cx="3520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66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0663B"/>
                </a:solidFill>
                <a:latin typeface="Cambria"/>
                <a:ea typeface="Cambria"/>
                <a:cs typeface="Cambria"/>
                <a:sym typeface="Cambria"/>
              </a:rPr>
              <a:t>8,782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8138160" y="3063240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A2A38"/>
                </a:solidFill>
                <a:latin typeface="Calibri"/>
                <a:ea typeface="Calibri"/>
                <a:cs typeface="Calibri"/>
                <a:sym typeface="Calibri"/>
              </a:rPr>
              <a:t>Likes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48640" y="3840480"/>
            <a:ext cx="3520440" cy="1737360"/>
          </a:xfrm>
          <a:prstGeom prst="roundRect">
            <a:avLst>
              <a:gd fmla="val 4211" name="adj"/>
            </a:avLst>
          </a:prstGeom>
          <a:solidFill>
            <a:srgbClr val="F7F5FC"/>
          </a:solidFill>
          <a:ln cap="flat" cmpd="sng" w="12700">
            <a:solidFill>
              <a:srgbClr val="E4DFF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C8C9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548640" y="3950208"/>
            <a:ext cx="3520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3AA8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4C3AA8"/>
                </a:solidFill>
                <a:latin typeface="Cambria"/>
                <a:ea typeface="Cambria"/>
                <a:cs typeface="Cambria"/>
                <a:sym typeface="Cambria"/>
              </a:rPr>
              <a:t>7,488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640080" y="5074920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A2A38"/>
                </a:solidFill>
                <a:latin typeface="Calibri"/>
                <a:ea typeface="Calibri"/>
                <a:cs typeface="Calibri"/>
                <a:sym typeface="Calibri"/>
              </a:rPr>
              <a:t>Comments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297680" y="3840480"/>
            <a:ext cx="3520440" cy="1737360"/>
          </a:xfrm>
          <a:prstGeom prst="roundRect">
            <a:avLst>
              <a:gd fmla="val 4211" name="adj"/>
            </a:avLst>
          </a:prstGeom>
          <a:solidFill>
            <a:srgbClr val="F7F5FC"/>
          </a:solidFill>
          <a:ln cap="flat" cmpd="sng" w="12700">
            <a:solidFill>
              <a:srgbClr val="E4DFF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C8C9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4297680" y="3950208"/>
            <a:ext cx="3520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327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C1327A"/>
                </a:solidFill>
                <a:latin typeface="Cambria"/>
                <a:ea typeface="Cambria"/>
                <a:cs typeface="Cambria"/>
                <a:sym typeface="Cambria"/>
              </a:rPr>
              <a:t>7,623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4389120" y="5074920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A2A38"/>
                </a:solidFill>
                <a:latin typeface="Calibri"/>
                <a:ea typeface="Calibri"/>
                <a:cs typeface="Calibri"/>
                <a:sym typeface="Calibri"/>
              </a:rPr>
              <a:t>Follow Relationships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8046720" y="3840480"/>
            <a:ext cx="3520440" cy="1737360"/>
          </a:xfrm>
          <a:prstGeom prst="roundRect">
            <a:avLst>
              <a:gd fmla="val 4211" name="adj"/>
            </a:avLst>
          </a:prstGeom>
          <a:solidFill>
            <a:srgbClr val="F7F5FC"/>
          </a:solidFill>
          <a:ln cap="flat" cmpd="sng" w="12700">
            <a:solidFill>
              <a:srgbClr val="E4DFF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C8C9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8046720" y="3950208"/>
            <a:ext cx="3520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66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0663B"/>
                </a:solidFill>
                <a:latin typeface="Cambria"/>
                <a:ea typeface="Cambria"/>
                <a:cs typeface="Cambria"/>
                <a:sym typeface="Cambria"/>
              </a:rPr>
              <a:t>21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8138160" y="5074920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A2A38"/>
                </a:solidFill>
                <a:latin typeface="Calibri"/>
                <a:ea typeface="Calibri"/>
                <a:cs typeface="Calibri"/>
                <a:sym typeface="Calibri"/>
              </a:rPr>
              <a:t>Hashtags Tracked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Instagram User Engagement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E4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41E4E"/>
                </a:solidFill>
                <a:latin typeface="Cambria"/>
                <a:ea typeface="Cambria"/>
                <a:cs typeface="Cambria"/>
                <a:sym typeface="Cambria"/>
              </a:rPr>
              <a:t>We Verified the Data First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548640" y="987552"/>
            <a:ext cx="110916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Before drawing conclusions, we confirmed the numbers can be trusted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640080" y="18745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1143000" y="1856232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A2A38"/>
                </a:solidFill>
                <a:latin typeface="Calibri"/>
                <a:ea typeface="Calibri"/>
                <a:cs typeface="Calibri"/>
                <a:sym typeface="Calibri"/>
              </a:rPr>
              <a:t>No missing usernames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6400800" y="1874520"/>
            <a:ext cx="384048" cy="38404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6400800" y="18745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6903720" y="1856232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A2A38"/>
                </a:solidFill>
                <a:latin typeface="Calibri"/>
                <a:ea typeface="Calibri"/>
                <a:cs typeface="Calibri"/>
                <a:sym typeface="Calibri"/>
              </a:rPr>
              <a:t>No duplicate user accounts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640080" y="2651760"/>
            <a:ext cx="384048" cy="38404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640080" y="26517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1143000" y="2633472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A2A38"/>
                </a:solidFill>
                <a:latin typeface="Calibri"/>
                <a:ea typeface="Calibri"/>
                <a:cs typeface="Calibri"/>
                <a:sym typeface="Calibri"/>
              </a:rPr>
              <a:t>No missing image URLs on posts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6400800" y="2651760"/>
            <a:ext cx="384048" cy="38404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6400800" y="26517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6903720" y="2633472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A2A38"/>
                </a:solidFill>
                <a:latin typeface="Calibri"/>
                <a:ea typeface="Calibri"/>
                <a:cs typeface="Calibri"/>
                <a:sym typeface="Calibri"/>
              </a:rPr>
              <a:t>No missing comment text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640080" y="3429000"/>
            <a:ext cx="384048" cy="38404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640080" y="34290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1143000" y="3410712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A2A38"/>
                </a:solidFill>
                <a:latin typeface="Calibri"/>
                <a:ea typeface="Calibri"/>
                <a:cs typeface="Calibri"/>
                <a:sym typeface="Calibri"/>
              </a:rPr>
              <a:t>No duplicate like records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6400800" y="3429000"/>
            <a:ext cx="384048" cy="38404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6400800" y="34290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6903720" y="3410712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A2A38"/>
                </a:solidFill>
                <a:latin typeface="Calibri"/>
                <a:ea typeface="Calibri"/>
                <a:cs typeface="Calibri"/>
                <a:sym typeface="Calibri"/>
              </a:rPr>
              <a:t>No duplicate hashtag names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640080" y="4937760"/>
            <a:ext cx="10881360" cy="1051560"/>
          </a:xfrm>
          <a:prstGeom prst="roundRect">
            <a:avLst>
              <a:gd fmla="val 6957" name="adj"/>
            </a:avLst>
          </a:prstGeom>
          <a:solidFill>
            <a:srgbClr val="F7F5FC"/>
          </a:solidFill>
          <a:ln cap="flat" cmpd="sng" w="12700">
            <a:solidFill>
              <a:srgbClr val="E4DF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914400" y="4937760"/>
            <a:ext cx="103327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E4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41E4E"/>
                </a:solidFill>
                <a:latin typeface="Calibri"/>
                <a:ea typeface="Calibri"/>
                <a:cs typeface="Calibri"/>
                <a:sym typeface="Calibri"/>
              </a:rPr>
              <a:t>Result: </a:t>
            </a:r>
            <a:r>
              <a:rPr b="0" i="0" lang="en-US" sz="1500" u="none" cap="none" strike="noStrike">
                <a:solidFill>
                  <a:srgbClr val="2A2A38"/>
                </a:solidFill>
                <a:latin typeface="Calibri"/>
                <a:ea typeface="Calibri"/>
                <a:cs typeface="Calibri"/>
                <a:sym typeface="Calibri"/>
              </a:rPr>
              <a:t>6 out of 6 data-quality checks passed. The numbers in this presentation are built on a clean foundation.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Instagram User Engagement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E4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41E4E"/>
                </a:solidFill>
                <a:latin typeface="Cambria"/>
                <a:ea typeface="Cambria"/>
                <a:cs typeface="Cambria"/>
                <a:sym typeface="Cambria"/>
              </a:rPr>
              <a:t>Our Users Fall Into Two Very Different Tiers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548640" y="987552"/>
            <a:ext cx="110916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The follow network splits the user base almost perfectly in two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548640" y="1874520"/>
            <a:ext cx="5257800" cy="4114800"/>
          </a:xfrm>
          <a:prstGeom prst="roundRect">
            <a:avLst>
              <a:gd fmla="val 1778" name="adj"/>
            </a:avLst>
          </a:prstGeom>
          <a:solidFill>
            <a:srgbClr val="F7F5FC"/>
          </a:solidFill>
          <a:ln cap="flat" cmpd="sng" w="12700">
            <a:solidFill>
              <a:srgbClr val="E4DF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822960" y="2148840"/>
            <a:ext cx="4709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3AA8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4C3AA8"/>
                </a:solidFill>
                <a:latin typeface="Cambria"/>
                <a:ea typeface="Cambria"/>
                <a:cs typeface="Cambria"/>
                <a:sym typeface="Cambria"/>
              </a:rPr>
              <a:t>77 users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822960" y="2788920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E4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41E4E"/>
                </a:solidFill>
                <a:latin typeface="Calibri"/>
                <a:ea typeface="Calibri"/>
                <a:cs typeface="Calibri"/>
                <a:sym typeface="Calibri"/>
              </a:rPr>
              <a:t>“Community” accounts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822960" y="3291840"/>
            <a:ext cx="470916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873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2050"/>
              <a:buFont typeface="Calibri"/>
              <a:buChar char="•"/>
            </a:pPr>
            <a:r>
              <a:rPr b="0" i="0" lang="en-US" sz="2050" u="none" cap="none" strike="noStrike">
                <a:solidFill>
                  <a:srgbClr val="2A2A38"/>
                </a:solidFill>
                <a:latin typeface="Calibri"/>
                <a:ea typeface="Calibri"/>
                <a:cs typeface="Calibri"/>
                <a:sym typeface="Calibri"/>
              </a:rPr>
              <a:t>Follow ~99 other users each (nearly everyone on the platform)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A2A38"/>
              </a:buClr>
              <a:buSzPts val="2050"/>
              <a:buFont typeface="Calibri"/>
              <a:buChar char="•"/>
            </a:pPr>
            <a:r>
              <a:rPr b="0" i="0" lang="en-US" sz="2050" u="none" cap="none" strike="noStrike">
                <a:solidFill>
                  <a:srgbClr val="2A2A38"/>
                </a:solidFill>
                <a:latin typeface="Calibri"/>
                <a:ea typeface="Calibri"/>
                <a:cs typeface="Calibri"/>
                <a:sym typeface="Calibri"/>
              </a:rPr>
              <a:t>Have about 76 followers each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A2A38"/>
              </a:buClr>
              <a:buSzPts val="2050"/>
              <a:buFont typeface="Calibri"/>
              <a:buChar char="•"/>
            </a:pPr>
            <a:r>
              <a:rPr b="0" i="0" lang="en-US" sz="2050" u="none" cap="none" strike="noStrike">
                <a:solidFill>
                  <a:srgbClr val="2A2A38"/>
                </a:solidFill>
                <a:latin typeface="Calibri"/>
                <a:ea typeface="Calibri"/>
                <a:cs typeface="Calibri"/>
                <a:sym typeface="Calibri"/>
              </a:rPr>
              <a:t>Generate essentially all of the platform's likes and comments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6355080" y="1874520"/>
            <a:ext cx="5257800" cy="4114800"/>
          </a:xfrm>
          <a:prstGeom prst="roundRect">
            <a:avLst>
              <a:gd fmla="val 1778" name="adj"/>
            </a:avLst>
          </a:prstGeom>
          <a:solidFill>
            <a:srgbClr val="241E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6629400" y="2148840"/>
            <a:ext cx="4709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663B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0663B"/>
                </a:solidFill>
                <a:latin typeface="Cambria"/>
                <a:ea typeface="Cambria"/>
                <a:cs typeface="Cambria"/>
                <a:sym typeface="Cambria"/>
              </a:rPr>
              <a:t>23 users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629400" y="2788920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“Influencer” accounts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6629400" y="3291840"/>
            <a:ext cx="470916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873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6E0F5"/>
              </a:buClr>
              <a:buSzPts val="2050"/>
              <a:buFont typeface="Calibri"/>
              <a:buChar char="•"/>
            </a:pPr>
            <a:r>
              <a:rPr b="0" i="0" lang="en-US" sz="2050" u="none" cap="none" strike="noStrike">
                <a:solidFill>
                  <a:srgbClr val="E6E0F5"/>
                </a:solidFill>
                <a:latin typeface="Calibri"/>
                <a:ea typeface="Calibri"/>
                <a:cs typeface="Calibri"/>
                <a:sym typeface="Calibri"/>
              </a:rPr>
              <a:t>Follow 0 other users — they never follow back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E6E0F5"/>
              </a:buClr>
              <a:buSzPts val="2050"/>
              <a:buFont typeface="Calibri"/>
              <a:buChar char="•"/>
            </a:pPr>
            <a:r>
              <a:rPr b="0" i="0" lang="en-US" sz="2050" u="none" cap="none" strike="noStrike">
                <a:solidFill>
                  <a:srgbClr val="E6E0F5"/>
                </a:solidFill>
                <a:latin typeface="Calibri"/>
                <a:ea typeface="Calibri"/>
                <a:cs typeface="Calibri"/>
                <a:sym typeface="Calibri"/>
              </a:rPr>
              <a:t>Have about 77 followers each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E6E0F5"/>
              </a:buClr>
              <a:buSzPts val="2050"/>
              <a:buFont typeface="Calibri"/>
              <a:buChar char="•"/>
            </a:pPr>
            <a:r>
              <a:rPr b="0" i="0" lang="en-US" sz="2050" u="none" cap="none" strike="noStrike">
                <a:solidFill>
                  <a:srgbClr val="E6E0F5"/>
                </a:solidFill>
                <a:latin typeface="Calibri"/>
                <a:ea typeface="Calibri"/>
                <a:cs typeface="Calibri"/>
                <a:sym typeface="Calibri"/>
              </a:rPr>
              <a:t>Never like or comment on anyone else's content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Instagram User Engagement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E4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41E4E"/>
                </a:solidFill>
                <a:latin typeface="Cambria"/>
                <a:ea typeface="Cambria"/>
                <a:cs typeface="Cambria"/>
                <a:sym typeface="Cambria"/>
              </a:rPr>
              <a:t>Not All “Influencer” Accounts Are Equal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548640" y="987552"/>
            <a:ext cx="110916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The 23 influencer-tier accounts split into two very different groups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548640" y="1874520"/>
            <a:ext cx="5257800" cy="4114800"/>
          </a:xfrm>
          <a:prstGeom prst="roundRect">
            <a:avLst>
              <a:gd fmla="val 1778" name="adj"/>
            </a:avLst>
          </a:prstGeom>
          <a:solidFill>
            <a:srgbClr val="F7F5FC"/>
          </a:solidFill>
          <a:ln cap="flat" cmpd="sng" w="12700">
            <a:solidFill>
              <a:srgbClr val="E4DF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822960" y="2148840"/>
            <a:ext cx="4709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327A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C1327A"/>
                </a:solidFill>
                <a:latin typeface="Cambria"/>
                <a:ea typeface="Cambria"/>
                <a:cs typeface="Cambria"/>
                <a:sym typeface="Cambria"/>
              </a:rPr>
              <a:t>10 users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822960" y="2788920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E4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41E4E"/>
                </a:solidFill>
                <a:latin typeface="Calibri"/>
                <a:ea typeface="Calibri"/>
                <a:cs typeface="Calibri"/>
                <a:sym typeface="Calibri"/>
              </a:rPr>
              <a:t>Active Creators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822960" y="3291840"/>
            <a:ext cx="470916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873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2050"/>
              <a:buFont typeface="Calibri"/>
              <a:buChar char="•"/>
            </a:pPr>
            <a:r>
              <a:rPr b="0" i="0" lang="en-US" sz="2050" u="none" cap="none" strike="noStrike">
                <a:solidFill>
                  <a:srgbClr val="2A2A38"/>
                </a:solidFill>
                <a:latin typeface="Calibri"/>
                <a:ea typeface="Calibri"/>
                <a:cs typeface="Calibri"/>
                <a:sym typeface="Calibri"/>
              </a:rPr>
              <a:t>Post regularly (5 to 12 posts each)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A2A38"/>
              </a:buClr>
              <a:buSzPts val="2050"/>
              <a:buFont typeface="Calibri"/>
              <a:buChar char="•"/>
            </a:pPr>
            <a:r>
              <a:rPr b="0" i="0" lang="en-US" sz="2050" u="none" cap="none" strike="noStrike">
                <a:solidFill>
                  <a:srgbClr val="2A2A38"/>
                </a:solidFill>
                <a:latin typeface="Calibri"/>
                <a:ea typeface="Calibri"/>
                <a:cs typeface="Calibri"/>
                <a:sym typeface="Calibri"/>
              </a:rPr>
              <a:t>Are literally our top 10 accounts for total engagement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A2A38"/>
              </a:buClr>
              <a:buSzPts val="2050"/>
              <a:buFont typeface="Calibri"/>
              <a:buChar char="•"/>
            </a:pPr>
            <a:r>
              <a:rPr b="0" i="0" lang="en-US" sz="2050" u="none" cap="none" strike="noStrike">
                <a:solidFill>
                  <a:srgbClr val="2A2A38"/>
                </a:solidFill>
                <a:latin typeface="Calibri"/>
                <a:ea typeface="Calibri"/>
                <a:cs typeface="Calibri"/>
                <a:sym typeface="Calibri"/>
              </a:rPr>
              <a:t>Drive nearly a third of all platform engagement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6355080" y="1874520"/>
            <a:ext cx="5257800" cy="4114800"/>
          </a:xfrm>
          <a:prstGeom prst="roundRect">
            <a:avLst>
              <a:gd fmla="val 1778" name="adj"/>
            </a:avLst>
          </a:prstGeom>
          <a:solidFill>
            <a:srgbClr val="FBEFE9"/>
          </a:solidFill>
          <a:ln cap="flat" cmpd="sng" w="12700">
            <a:solidFill>
              <a:srgbClr val="F0D9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6629400" y="2148840"/>
            <a:ext cx="4709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663B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0663B"/>
                </a:solidFill>
                <a:latin typeface="Cambria"/>
                <a:ea typeface="Cambria"/>
                <a:cs typeface="Cambria"/>
                <a:sym typeface="Cambria"/>
              </a:rPr>
              <a:t>13 users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6629400" y="2788920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E4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41E4E"/>
                </a:solidFill>
                <a:latin typeface="Calibri"/>
                <a:ea typeface="Calibri"/>
                <a:cs typeface="Calibri"/>
                <a:sym typeface="Calibri"/>
              </a:rPr>
              <a:t>Ghost Accounts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6629400" y="3291840"/>
            <a:ext cx="470916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873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2050"/>
              <a:buFont typeface="Calibri"/>
              <a:buChar char="•"/>
            </a:pPr>
            <a:r>
              <a:rPr b="0" i="0" lang="en-US" sz="2050" u="none" cap="none" strike="noStrike">
                <a:solidFill>
                  <a:srgbClr val="2A2A38"/>
                </a:solidFill>
                <a:latin typeface="Calibri"/>
                <a:ea typeface="Calibri"/>
                <a:cs typeface="Calibri"/>
                <a:sym typeface="Calibri"/>
              </a:rPr>
              <a:t>Have 0 posts — they've never shared any content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A2A38"/>
              </a:buClr>
              <a:buSzPts val="2050"/>
              <a:buFont typeface="Calibri"/>
              <a:buChar char="•"/>
            </a:pPr>
            <a:r>
              <a:rPr b="0" i="0" lang="en-US" sz="2050" u="none" cap="none" strike="noStrike">
                <a:solidFill>
                  <a:srgbClr val="2A2A38"/>
                </a:solidFill>
                <a:latin typeface="Calibri"/>
                <a:ea typeface="Calibri"/>
                <a:cs typeface="Calibri"/>
                <a:sym typeface="Calibri"/>
              </a:rPr>
              <a:t>Still carry ~77 followers each, likely from early sign-up momentum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A2A38"/>
              </a:buClr>
              <a:buSzPts val="2050"/>
              <a:buFont typeface="Calibri"/>
              <a:buChar char="•"/>
            </a:pPr>
            <a:r>
              <a:rPr b="0" i="0" lang="en-US" sz="2050" u="none" cap="none" strike="noStrike">
                <a:solidFill>
                  <a:srgbClr val="2A2A38"/>
                </a:solidFill>
                <a:latin typeface="Calibri"/>
                <a:ea typeface="Calibri"/>
                <a:cs typeface="Calibri"/>
                <a:sym typeface="Calibri"/>
              </a:rPr>
              <a:t>Contribute zero engagement in either direction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Instagram User Engagement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E4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41E4E"/>
                </a:solidFill>
                <a:latin typeface="Cambria"/>
                <a:ea typeface="Cambria"/>
                <a:cs typeface="Cambria"/>
                <a:sym typeface="Cambria"/>
              </a:rPr>
              <a:t>Engagement Is Highly Concentrated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548640" y="987552"/>
            <a:ext cx="110916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Our top 10 creators (10% of users) drive 30% of all platform engagement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783080"/>
            <a:ext cx="7498080" cy="448056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9"/>
          <p:cNvSpPr/>
          <p:nvPr/>
        </p:nvSpPr>
        <p:spPr>
          <a:xfrm>
            <a:off x="8275320" y="2194560"/>
            <a:ext cx="3383280" cy="1737360"/>
          </a:xfrm>
          <a:prstGeom prst="roundRect">
            <a:avLst>
              <a:gd fmla="val 4211" name="adj"/>
            </a:avLst>
          </a:prstGeom>
          <a:solidFill>
            <a:srgbClr val="F7F5FC"/>
          </a:solidFill>
          <a:ln cap="flat" cmpd="sng" w="12700">
            <a:solidFill>
              <a:srgbClr val="E4DFF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C8C9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"/>
          <p:cNvSpPr/>
          <p:nvPr/>
        </p:nvSpPr>
        <p:spPr>
          <a:xfrm>
            <a:off x="8275320" y="2304288"/>
            <a:ext cx="3383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327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C1327A"/>
                </a:solidFill>
                <a:latin typeface="Cambria"/>
                <a:ea typeface="Cambria"/>
                <a:cs typeface="Cambria"/>
                <a:sym typeface="Cambria"/>
              </a:rPr>
              <a:t>30.5%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8366760" y="3429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A2A38"/>
                </a:solidFill>
                <a:latin typeface="Calibri"/>
                <a:ea typeface="Calibri"/>
                <a:cs typeface="Calibri"/>
                <a:sym typeface="Calibri"/>
              </a:rPr>
              <a:t>of all platform engagement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A2A38"/>
                </a:solidFill>
                <a:latin typeface="Calibri"/>
                <a:ea typeface="Calibri"/>
                <a:cs typeface="Calibri"/>
                <a:sym typeface="Calibri"/>
              </a:rPr>
              <a:t>comes from just these 10 users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8275320" y="4069080"/>
            <a:ext cx="3383280" cy="1737360"/>
          </a:xfrm>
          <a:prstGeom prst="roundRect">
            <a:avLst>
              <a:gd fmla="val 4211" name="adj"/>
            </a:avLst>
          </a:prstGeom>
          <a:solidFill>
            <a:srgbClr val="F7F5FC"/>
          </a:solidFill>
          <a:ln cap="flat" cmpd="sng" w="12700">
            <a:solidFill>
              <a:srgbClr val="E4DFF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C8C9E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8275320" y="4178808"/>
            <a:ext cx="3383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66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0663B"/>
                </a:solidFill>
                <a:latin typeface="Cambria"/>
                <a:ea typeface="Cambria"/>
                <a:cs typeface="Cambria"/>
                <a:sym typeface="Cambria"/>
              </a:rPr>
              <a:t>4,962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8366760" y="530352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A2A38"/>
                </a:solidFill>
                <a:latin typeface="Calibri"/>
                <a:ea typeface="Calibri"/>
                <a:cs typeface="Calibri"/>
                <a:sym typeface="Calibri"/>
              </a:rPr>
              <a:t>combined likes + comments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A2A38"/>
                </a:solidFill>
                <a:latin typeface="Calibri"/>
                <a:ea typeface="Calibri"/>
                <a:cs typeface="Calibri"/>
                <a:sym typeface="Calibri"/>
              </a:rPr>
              <a:t>out of 16,270 total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Instagram User Engagement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E4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41E4E"/>
                </a:solidFill>
                <a:latin typeface="Cambria"/>
                <a:ea typeface="Cambria"/>
                <a:cs typeface="Cambria"/>
                <a:sym typeface="Cambria"/>
              </a:rPr>
              <a:t>Popular Hashtags Aren't Always the Best-Performing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548640" y="987552"/>
            <a:ext cx="110916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Usage volume and engagement quality tell two different stories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548640" y="182880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E4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41E4E"/>
                </a:solidFill>
                <a:latin typeface="Calibri"/>
                <a:ea typeface="Calibri"/>
                <a:cs typeface="Calibri"/>
                <a:sym typeface="Calibri"/>
              </a:rPr>
              <a:t>Most-Used Hashtags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240280"/>
            <a:ext cx="5394960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0"/>
          <p:cNvSpPr/>
          <p:nvPr/>
        </p:nvSpPr>
        <p:spPr>
          <a:xfrm>
            <a:off x="6263640" y="182880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E4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41E4E"/>
                </a:solidFill>
                <a:latin typeface="Calibri"/>
                <a:ea typeface="Calibri"/>
                <a:cs typeface="Calibri"/>
                <a:sym typeface="Calibri"/>
              </a:rPr>
              <a:t>Highest Average Likes per Post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2240280"/>
            <a:ext cx="5394960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Instagram User Engagement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E4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41E4E"/>
                </a:solidFill>
                <a:latin typeface="Cambria"/>
                <a:ea typeface="Cambria"/>
                <a:cs typeface="Cambria"/>
                <a:sym typeface="Cambria"/>
              </a:rPr>
              <a:t>Four Segments, Four Different Strategies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548640" y="987552"/>
            <a:ext cx="110916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Turning these patterns into a targeting plan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548640" y="1783080"/>
            <a:ext cx="5257800" cy="2103120"/>
          </a:xfrm>
          <a:prstGeom prst="roundRect">
            <a:avLst>
              <a:gd fmla="val 3478" name="adj"/>
            </a:avLst>
          </a:prstGeom>
          <a:solidFill>
            <a:srgbClr val="F7F5FC"/>
          </a:solidFill>
          <a:ln cap="flat" cmpd="sng" w="12700">
            <a:solidFill>
              <a:srgbClr val="E4DF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1"/>
          <p:cNvSpPr/>
          <p:nvPr/>
        </p:nvSpPr>
        <p:spPr>
          <a:xfrm>
            <a:off x="548640" y="1783080"/>
            <a:ext cx="109728" cy="2103120"/>
          </a:xfrm>
          <a:prstGeom prst="rect">
            <a:avLst/>
          </a:prstGeom>
          <a:solidFill>
            <a:srgbClr val="4C3A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1"/>
          <p:cNvSpPr/>
          <p:nvPr/>
        </p:nvSpPr>
        <p:spPr>
          <a:xfrm>
            <a:off x="868680" y="1965960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E4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41E4E"/>
                </a:solidFill>
                <a:latin typeface="Calibri"/>
                <a:ea typeface="Calibri"/>
                <a:cs typeface="Calibri"/>
                <a:sym typeface="Calibri"/>
              </a:rPr>
              <a:t>Active Creators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868680" y="2313432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3A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C3AA8"/>
                </a:solidFill>
                <a:latin typeface="Calibri"/>
                <a:ea typeface="Calibri"/>
                <a:cs typeface="Calibri"/>
                <a:sym typeface="Calibri"/>
              </a:rPr>
              <a:t>10 users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868680" y="2679192"/>
            <a:ext cx="4617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A2A38"/>
                </a:solidFill>
                <a:latin typeface="Calibri"/>
                <a:ea typeface="Calibri"/>
                <a:cs typeface="Calibri"/>
                <a:sym typeface="Calibri"/>
              </a:rPr>
              <a:t>Offer creator perks, early feature access, or revenue-sharing on sponsored posts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6080760" y="1783080"/>
            <a:ext cx="5257800" cy="2103120"/>
          </a:xfrm>
          <a:prstGeom prst="roundRect">
            <a:avLst>
              <a:gd fmla="val 3478" name="adj"/>
            </a:avLst>
          </a:prstGeom>
          <a:solidFill>
            <a:srgbClr val="F7F5FC"/>
          </a:solidFill>
          <a:ln cap="flat" cmpd="sng" w="12700">
            <a:solidFill>
              <a:srgbClr val="E4DF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"/>
          <p:cNvSpPr/>
          <p:nvPr/>
        </p:nvSpPr>
        <p:spPr>
          <a:xfrm>
            <a:off x="6080760" y="1783080"/>
            <a:ext cx="109728" cy="2103120"/>
          </a:xfrm>
          <a:prstGeom prst="rect">
            <a:avLst/>
          </a:prstGeom>
          <a:solidFill>
            <a:srgbClr val="C132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1"/>
          <p:cNvSpPr/>
          <p:nvPr/>
        </p:nvSpPr>
        <p:spPr>
          <a:xfrm>
            <a:off x="6400800" y="1965960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E4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41E4E"/>
                </a:solidFill>
                <a:latin typeface="Calibri"/>
                <a:ea typeface="Calibri"/>
                <a:cs typeface="Calibri"/>
                <a:sym typeface="Calibri"/>
              </a:rPr>
              <a:t>Ghost Accounts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6400800" y="2313432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327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1327A"/>
                </a:solidFill>
                <a:latin typeface="Calibri"/>
                <a:ea typeface="Calibri"/>
                <a:cs typeface="Calibri"/>
                <a:sym typeface="Calibri"/>
              </a:rPr>
              <a:t>13 users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6400800" y="2679192"/>
            <a:ext cx="4617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A2A38"/>
                </a:solidFill>
                <a:latin typeface="Calibri"/>
                <a:ea typeface="Calibri"/>
                <a:cs typeface="Calibri"/>
                <a:sym typeface="Calibri"/>
              </a:rPr>
              <a:t>Send a re-engagement nudge — they already have an audience waiting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548640" y="4160520"/>
            <a:ext cx="5257800" cy="2103120"/>
          </a:xfrm>
          <a:prstGeom prst="roundRect">
            <a:avLst>
              <a:gd fmla="val 3478" name="adj"/>
            </a:avLst>
          </a:prstGeom>
          <a:solidFill>
            <a:srgbClr val="F7F5FC"/>
          </a:solidFill>
          <a:ln cap="flat" cmpd="sng" w="12700">
            <a:solidFill>
              <a:srgbClr val="E4DF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1"/>
          <p:cNvSpPr/>
          <p:nvPr/>
        </p:nvSpPr>
        <p:spPr>
          <a:xfrm>
            <a:off x="548640" y="4160520"/>
            <a:ext cx="109728" cy="2103120"/>
          </a:xfrm>
          <a:prstGeom prst="rect">
            <a:avLst/>
          </a:prstGeom>
          <a:solidFill>
            <a:srgbClr val="F066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"/>
          <p:cNvSpPr/>
          <p:nvPr/>
        </p:nvSpPr>
        <p:spPr>
          <a:xfrm>
            <a:off x="868680" y="4343400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E4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41E4E"/>
                </a:solidFill>
                <a:latin typeface="Calibri"/>
                <a:ea typeface="Calibri"/>
                <a:cs typeface="Calibri"/>
                <a:sym typeface="Calibri"/>
              </a:rPr>
              <a:t>Community Accounts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868680" y="4690872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66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0663B"/>
                </a:solidFill>
                <a:latin typeface="Calibri"/>
                <a:ea typeface="Calibri"/>
                <a:cs typeface="Calibri"/>
                <a:sym typeface="Calibri"/>
              </a:rPr>
              <a:t>77 users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868680" y="5056632"/>
            <a:ext cx="4617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A2A38"/>
                </a:solidFill>
                <a:latin typeface="Calibri"/>
                <a:ea typeface="Calibri"/>
                <a:cs typeface="Calibri"/>
                <a:sym typeface="Calibri"/>
              </a:rPr>
              <a:t>Reward consistent engagement with recognition or small incentives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6080760" y="4160520"/>
            <a:ext cx="5257800" cy="2103120"/>
          </a:xfrm>
          <a:prstGeom prst="roundRect">
            <a:avLst>
              <a:gd fmla="val 3478" name="adj"/>
            </a:avLst>
          </a:prstGeom>
          <a:solidFill>
            <a:srgbClr val="F7F5FC"/>
          </a:solidFill>
          <a:ln cap="flat" cmpd="sng" w="12700">
            <a:solidFill>
              <a:srgbClr val="E4DF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"/>
          <p:cNvSpPr/>
          <p:nvPr/>
        </p:nvSpPr>
        <p:spPr>
          <a:xfrm>
            <a:off x="6080760" y="4160520"/>
            <a:ext cx="109728" cy="21031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1"/>
          <p:cNvSpPr/>
          <p:nvPr/>
        </p:nvSpPr>
        <p:spPr>
          <a:xfrm>
            <a:off x="6400800" y="4343400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E4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41E4E"/>
                </a:solidFill>
                <a:latin typeface="Calibri"/>
                <a:ea typeface="Calibri"/>
                <a:cs typeface="Calibri"/>
                <a:sym typeface="Calibri"/>
              </a:rPr>
              <a:t>Hashtag Campaigns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6400800" y="4690872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B5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8B57"/>
                </a:solidFill>
                <a:latin typeface="Calibri"/>
                <a:ea typeface="Calibri"/>
                <a:cs typeface="Calibri"/>
                <a:sym typeface="Calibri"/>
              </a:rPr>
              <a:t>Top 5 tags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6400800" y="5056632"/>
            <a:ext cx="4617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A2A38"/>
                </a:solidFill>
                <a:latin typeface="Calibri"/>
                <a:ea typeface="Calibri"/>
                <a:cs typeface="Calibri"/>
                <a:sym typeface="Calibri"/>
              </a:rPr>
              <a:t>Prioritize ad creative around high-performing tags, not just popular ones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Instagram User Engagement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E4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41E4E"/>
                </a:solidFill>
                <a:latin typeface="Cambria"/>
                <a:ea typeface="Cambria"/>
                <a:cs typeface="Cambria"/>
                <a:sym typeface="Cambria"/>
              </a:rPr>
              <a:t>User Activity Levels Vary Widely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548640" y="987552"/>
            <a:ext cx="110916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Posts, likes given, and comments made, per user (top 8 by post count)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783080"/>
            <a:ext cx="10881360" cy="429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2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The heaviest posters give almost no likes or comments back — this is the “Active Creator” pattern from earlier: post-only, engage-never.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Instagram User Engagement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E4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41E4E"/>
                </a:solidFill>
                <a:latin typeface="Cambria"/>
                <a:ea typeface="Cambria"/>
                <a:cs typeface="Cambria"/>
                <a:sym typeface="Cambria"/>
              </a:rPr>
              <a:t>Follower Counts Barely Vary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548640" y="987552"/>
            <a:ext cx="110916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Top 8 users by follower count (all tied at 77)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1783080"/>
            <a:ext cx="8686800" cy="429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3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Unlike engagement, follower count doesn't discriminate between users in this dataset — which is exactly why the influencer shortlist (slide 6) is built on engagement, not followers.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Instagram User Engagement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4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E4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41E4E"/>
                </a:solidFill>
                <a:latin typeface="Cambria"/>
                <a:ea typeface="Cambria"/>
                <a:cs typeface="Cambria"/>
                <a:sym typeface="Cambria"/>
              </a:rPr>
              <a:t>Some Rarely-Posting Users Get Outsized Engagement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548640" y="987552"/>
            <a:ext cx="110916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Top 8 users by average engagement per post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1783080"/>
            <a:ext cx="8686800" cy="429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4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Most of these users have posted only once — quality leaders, not volume leaders. A different reward strategy than the top-10-by-total-engagement group.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Instagram User Engagement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E4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41E4E"/>
                </a:solidFill>
                <a:latin typeface="Cambria"/>
                <a:ea typeface="Cambria"/>
                <a:cs typeface="Cambria"/>
                <a:sym typeface="Cambria"/>
              </a:rPr>
              <a:t>Nearly a Quarter of Users Have Never Liked a Post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5"/>
          <p:cNvSpPr/>
          <p:nvPr/>
        </p:nvSpPr>
        <p:spPr>
          <a:xfrm>
            <a:off x="548640" y="987552"/>
            <a:ext cx="110916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Engaged vs. never-engaged split, platform-wide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7560" y="1737360"/>
            <a:ext cx="5486400" cy="420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5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These same 23 users also never comment and never follow anyone — a fully silent segment, not just partially active.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Instagram User Engagement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6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E4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41E4E"/>
                </a:solidFill>
                <a:latin typeface="Cambria"/>
                <a:ea typeface="Cambria"/>
                <a:cs typeface="Cambria"/>
                <a:sym typeface="Cambria"/>
              </a:rPr>
              <a:t>Likes, Comments &amp; Tags Per User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6"/>
          <p:cNvSpPr/>
          <p:nvPr/>
        </p:nvSpPr>
        <p:spPr>
          <a:xfrm>
            <a:off x="548640" y="987552"/>
            <a:ext cx="110916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Top 8 users by likes received — stacked totals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783080"/>
            <a:ext cx="10881360" cy="429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Instagram User Engagement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E4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41E4E"/>
                </a:solidFill>
                <a:latin typeface="Cambria"/>
                <a:ea typeface="Cambria"/>
                <a:cs typeface="Cambria"/>
                <a:sym typeface="Cambria"/>
              </a:rPr>
              <a:t>Posts vs. Total Engagement, All Users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7"/>
          <p:cNvSpPr/>
          <p:nvPr/>
        </p:nvSpPr>
        <p:spPr>
          <a:xfrm>
            <a:off x="548640" y="987552"/>
            <a:ext cx="110916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Checking for a correlation between how much someone posts and how much engagement they get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1783080"/>
            <a:ext cx="9601200" cy="448056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Instagram User Engagement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8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E4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41E4E"/>
                </a:solidFill>
                <a:latin typeface="Cambria"/>
                <a:ea typeface="Cambria"/>
                <a:cs typeface="Cambria"/>
                <a:sym typeface="Cambria"/>
              </a:rPr>
              <a:t>Volume vs. Quality: Two Kinds of “Loyal” Users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8"/>
          <p:cNvSpPr/>
          <p:nvPr/>
        </p:nvSpPr>
        <p:spPr>
          <a:xfrm>
            <a:off x="548640" y="987552"/>
            <a:ext cx="110916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Total posts vs. average engagement per post, all users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" name="Google Shape;27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1783080"/>
            <a:ext cx="9601200" cy="429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8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The cluster at top-left (1 post, 70+ avg) are quality leaders like Meggie_Doyle; the point at far-right (12 posts, ~62 avg) is Eveline95, the volume leader.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Instagram User Engagement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9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E4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41E4E"/>
                </a:solidFill>
                <a:latin typeface="Cambria"/>
                <a:ea typeface="Cambria"/>
                <a:cs typeface="Cambria"/>
                <a:sym typeface="Cambria"/>
              </a:rPr>
              <a:t>Followers vs. Engagement: Finding Real Influencers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9"/>
          <p:cNvSpPr/>
          <p:nvPr/>
        </p:nvSpPr>
        <p:spPr>
          <a:xfrm>
            <a:off x="548640" y="987552"/>
            <a:ext cx="110916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Follower count alone barely separates users — engagement does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1783080"/>
            <a:ext cx="9601200" cy="429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9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Nearly everyone sits at 76–77 followers regardless of engagement — the vertical spread (engagement) is the only real differentiator here.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Instagram User Engagement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E4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41E4E"/>
                </a:solidFill>
                <a:latin typeface="Cambria"/>
                <a:ea typeface="Cambria"/>
                <a:cs typeface="Cambria"/>
                <a:sym typeface="Cambria"/>
              </a:rPr>
              <a:t>Recommended KPI Dashboard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0"/>
          <p:cNvSpPr/>
          <p:nvPr/>
        </p:nvSpPr>
        <p:spPr>
          <a:xfrm>
            <a:off x="548640" y="987552"/>
            <a:ext cx="110916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What we'd track going forward, based on this analysis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0"/>
          <p:cNvSpPr/>
          <p:nvPr/>
        </p:nvSpPr>
        <p:spPr>
          <a:xfrm>
            <a:off x="548640" y="178308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E4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41E4E"/>
                </a:solidFill>
                <a:latin typeface="Calibri"/>
                <a:ea typeface="Calibri"/>
                <a:cs typeface="Calibri"/>
                <a:sym typeface="Calibri"/>
              </a:rPr>
              <a:t>User Base by Segment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3" name="Google Shape;29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2103120"/>
            <a:ext cx="5394960" cy="278892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0"/>
          <p:cNvSpPr/>
          <p:nvPr/>
        </p:nvSpPr>
        <p:spPr>
          <a:xfrm>
            <a:off x="6263640" y="178308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E4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41E4E"/>
                </a:solidFill>
                <a:latin typeface="Calibri"/>
                <a:ea typeface="Calibri"/>
                <a:cs typeface="Calibri"/>
                <a:sym typeface="Calibri"/>
              </a:rPr>
              <a:t>Engagement Contributed by Segment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" name="Google Shape;29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2103120"/>
            <a:ext cx="5394960" cy="278892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0"/>
          <p:cNvSpPr/>
          <p:nvPr/>
        </p:nvSpPr>
        <p:spPr>
          <a:xfrm>
            <a:off x="548640" y="5166360"/>
            <a:ext cx="2724912" cy="1234440"/>
          </a:xfrm>
          <a:prstGeom prst="roundRect">
            <a:avLst>
              <a:gd fmla="val 5185" name="adj"/>
            </a:avLst>
          </a:prstGeom>
          <a:solidFill>
            <a:srgbClr val="F7F5FC"/>
          </a:solidFill>
          <a:ln cap="flat" cmpd="sng" w="12700">
            <a:solidFill>
              <a:srgbClr val="E4DF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0"/>
          <p:cNvSpPr/>
          <p:nvPr/>
        </p:nvSpPr>
        <p:spPr>
          <a:xfrm>
            <a:off x="713232" y="5276088"/>
            <a:ext cx="23957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E4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41E4E"/>
                </a:solidFill>
                <a:latin typeface="Calibri"/>
                <a:ea typeface="Calibri"/>
                <a:cs typeface="Calibri"/>
                <a:sym typeface="Calibri"/>
              </a:rPr>
              <a:t>Growth &amp; Reach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0"/>
          <p:cNvSpPr/>
          <p:nvPr/>
        </p:nvSpPr>
        <p:spPr>
          <a:xfrm>
            <a:off x="713232" y="5586984"/>
            <a:ext cx="239572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Total users · posts · follow relationships · follower/following ratio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0"/>
          <p:cNvSpPr/>
          <p:nvPr/>
        </p:nvSpPr>
        <p:spPr>
          <a:xfrm>
            <a:off x="3410712" y="5166360"/>
            <a:ext cx="2724912" cy="1234440"/>
          </a:xfrm>
          <a:prstGeom prst="roundRect">
            <a:avLst>
              <a:gd fmla="val 5185" name="adj"/>
            </a:avLst>
          </a:prstGeom>
          <a:solidFill>
            <a:srgbClr val="F7F5FC"/>
          </a:solidFill>
          <a:ln cap="flat" cmpd="sng" w="12700">
            <a:solidFill>
              <a:srgbClr val="E4DF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0"/>
          <p:cNvSpPr/>
          <p:nvPr/>
        </p:nvSpPr>
        <p:spPr>
          <a:xfrm>
            <a:off x="3575304" y="5276088"/>
            <a:ext cx="23957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E4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41E4E"/>
                </a:solidFill>
                <a:latin typeface="Calibri"/>
                <a:ea typeface="Calibri"/>
                <a:cs typeface="Calibri"/>
                <a:sym typeface="Calibri"/>
              </a:rPr>
              <a:t>Engagement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0"/>
          <p:cNvSpPr/>
          <p:nvPr/>
        </p:nvSpPr>
        <p:spPr>
          <a:xfrm>
            <a:off x="3575304" y="5586984"/>
            <a:ext cx="239572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Total likes + comments · avg engagement/post · top-10 users' share of engagement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0"/>
          <p:cNvSpPr/>
          <p:nvPr/>
        </p:nvSpPr>
        <p:spPr>
          <a:xfrm>
            <a:off x="6272784" y="5166360"/>
            <a:ext cx="2724912" cy="1234440"/>
          </a:xfrm>
          <a:prstGeom prst="roundRect">
            <a:avLst>
              <a:gd fmla="val 5185" name="adj"/>
            </a:avLst>
          </a:prstGeom>
          <a:solidFill>
            <a:srgbClr val="F7F5FC"/>
          </a:solidFill>
          <a:ln cap="flat" cmpd="sng" w="12700">
            <a:solidFill>
              <a:srgbClr val="E4DF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0"/>
          <p:cNvSpPr/>
          <p:nvPr/>
        </p:nvSpPr>
        <p:spPr>
          <a:xfrm>
            <a:off x="6437376" y="5276088"/>
            <a:ext cx="23957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E4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41E4E"/>
                </a:solidFill>
                <a:latin typeface="Calibri"/>
                <a:ea typeface="Calibri"/>
                <a:cs typeface="Calibri"/>
                <a:sym typeface="Calibri"/>
              </a:rPr>
              <a:t>Activation Risk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0"/>
          <p:cNvSpPr/>
          <p:nvPr/>
        </p:nvSpPr>
        <p:spPr>
          <a:xfrm>
            <a:off x="6437376" y="5586984"/>
            <a:ext cx="239572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% users who never liked · % "ghost" accounts (followers, zero posts)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0"/>
          <p:cNvSpPr/>
          <p:nvPr/>
        </p:nvSpPr>
        <p:spPr>
          <a:xfrm>
            <a:off x="9134856" y="5166360"/>
            <a:ext cx="2724912" cy="1234440"/>
          </a:xfrm>
          <a:prstGeom prst="roundRect">
            <a:avLst>
              <a:gd fmla="val 5185" name="adj"/>
            </a:avLst>
          </a:prstGeom>
          <a:solidFill>
            <a:srgbClr val="F7F5FC"/>
          </a:solidFill>
          <a:ln cap="flat" cmpd="sng" w="12700">
            <a:solidFill>
              <a:srgbClr val="E4DF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0"/>
          <p:cNvSpPr/>
          <p:nvPr/>
        </p:nvSpPr>
        <p:spPr>
          <a:xfrm>
            <a:off x="9299448" y="5276088"/>
            <a:ext cx="23957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E4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41E4E"/>
                </a:solidFill>
                <a:latin typeface="Calibri"/>
                <a:ea typeface="Calibri"/>
                <a:cs typeface="Calibri"/>
                <a:sym typeface="Calibri"/>
              </a:rPr>
              <a:t>Content Strategy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0"/>
          <p:cNvSpPr/>
          <p:nvPr/>
        </p:nvSpPr>
        <p:spPr>
          <a:xfrm>
            <a:off x="9299448" y="5586984"/>
            <a:ext cx="239572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Top hashtags by usage vs. by avg likes · % posts with ≥ 1 tag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Instagram User Engagement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1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E4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41E4E"/>
                </a:solidFill>
                <a:latin typeface="Cambria"/>
                <a:ea typeface="Cambria"/>
                <a:cs typeface="Cambria"/>
                <a:sym typeface="Cambria"/>
              </a:rPr>
              <a:t>What We'd Need to Go Further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1"/>
          <p:cNvSpPr/>
          <p:nvPr/>
        </p:nvSpPr>
        <p:spPr>
          <a:xfrm>
            <a:off x="548640" y="987552"/>
            <a:ext cx="110916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Being transparent about the current data's limits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1"/>
          <p:cNvSpPr/>
          <p:nvPr/>
        </p:nvSpPr>
        <p:spPr>
          <a:xfrm>
            <a:off x="548640" y="1874520"/>
            <a:ext cx="10881360" cy="960120"/>
          </a:xfrm>
          <a:prstGeom prst="roundRect">
            <a:avLst>
              <a:gd fmla="val 5714" name="adj"/>
            </a:avLst>
          </a:prstGeom>
          <a:solidFill>
            <a:srgbClr val="F7F5FC"/>
          </a:solidFill>
          <a:ln cap="flat" cmpd="sng" w="12700">
            <a:solidFill>
              <a:srgbClr val="E4DF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1"/>
          <p:cNvSpPr/>
          <p:nvPr/>
        </p:nvSpPr>
        <p:spPr>
          <a:xfrm>
            <a:off x="777240" y="1965960"/>
            <a:ext cx="2834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E4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41E4E"/>
                </a:solidFill>
                <a:latin typeface="Calibri"/>
                <a:ea typeface="Calibri"/>
                <a:cs typeface="Calibri"/>
                <a:sym typeface="Calibri"/>
              </a:rPr>
              <a:t>No content-type field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1"/>
          <p:cNvSpPr/>
          <p:nvPr/>
        </p:nvSpPr>
        <p:spPr>
          <a:xfrm>
            <a:off x="3749040" y="1965960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A2A38"/>
                </a:solidFill>
                <a:latin typeface="Calibri"/>
                <a:ea typeface="Calibri"/>
                <a:cs typeface="Calibri"/>
                <a:sym typeface="Calibri"/>
              </a:rPr>
              <a:t>We can't yet compare photos vs. videos vs. reels — the posts table doesn't distinguish them.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1"/>
          <p:cNvSpPr/>
          <p:nvPr/>
        </p:nvSpPr>
        <p:spPr>
          <a:xfrm>
            <a:off x="8915400" y="196596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32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1327A"/>
                </a:solidFill>
                <a:latin typeface="Calibri"/>
                <a:ea typeface="Calibri"/>
                <a:cs typeface="Calibri"/>
                <a:sym typeface="Calibri"/>
              </a:rPr>
              <a:t>Add a media_type column going forward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548640" y="2971800"/>
            <a:ext cx="10881360" cy="960120"/>
          </a:xfrm>
          <a:prstGeom prst="roundRect">
            <a:avLst>
              <a:gd fmla="val 5714" name="adj"/>
            </a:avLst>
          </a:prstGeom>
          <a:solidFill>
            <a:srgbClr val="F7F5FC"/>
          </a:solidFill>
          <a:ln cap="flat" cmpd="sng" w="12700">
            <a:solidFill>
              <a:srgbClr val="E4DF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1"/>
          <p:cNvSpPr/>
          <p:nvPr/>
        </p:nvSpPr>
        <p:spPr>
          <a:xfrm>
            <a:off x="777240" y="3063240"/>
            <a:ext cx="2834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E4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41E4E"/>
                </a:solidFill>
                <a:latin typeface="Calibri"/>
                <a:ea typeface="Calibri"/>
                <a:cs typeface="Calibri"/>
                <a:sym typeface="Calibri"/>
              </a:rPr>
              <a:t>No demographic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1"/>
          <p:cNvSpPr/>
          <p:nvPr/>
        </p:nvSpPr>
        <p:spPr>
          <a:xfrm>
            <a:off x="3749040" y="3063240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A2A38"/>
                </a:solidFill>
                <a:latin typeface="Calibri"/>
                <a:ea typeface="Calibri"/>
                <a:cs typeface="Calibri"/>
                <a:sym typeface="Calibri"/>
              </a:rPr>
              <a:t>Age, location, and gender aren't captured, so we can't segment campaigns by audience profile.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1"/>
          <p:cNvSpPr/>
          <p:nvPr/>
        </p:nvSpPr>
        <p:spPr>
          <a:xfrm>
            <a:off x="8915400" y="306324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32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1327A"/>
                </a:solidFill>
                <a:latin typeface="Calibri"/>
                <a:ea typeface="Calibri"/>
                <a:cs typeface="Calibri"/>
                <a:sym typeface="Calibri"/>
              </a:rPr>
              <a:t>Capture demographics with proper user consent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1"/>
          <p:cNvSpPr/>
          <p:nvPr/>
        </p:nvSpPr>
        <p:spPr>
          <a:xfrm>
            <a:off x="548640" y="4069080"/>
            <a:ext cx="10881360" cy="960120"/>
          </a:xfrm>
          <a:prstGeom prst="roundRect">
            <a:avLst>
              <a:gd fmla="val 5714" name="adj"/>
            </a:avLst>
          </a:prstGeom>
          <a:solidFill>
            <a:srgbClr val="F7F5FC"/>
          </a:solidFill>
          <a:ln cap="flat" cmpd="sng" w="12700">
            <a:solidFill>
              <a:srgbClr val="E4DF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1"/>
          <p:cNvSpPr/>
          <p:nvPr/>
        </p:nvSpPr>
        <p:spPr>
          <a:xfrm>
            <a:off x="777240" y="4160520"/>
            <a:ext cx="2834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E4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41E4E"/>
                </a:solidFill>
                <a:latin typeface="Calibri"/>
                <a:ea typeface="Calibri"/>
                <a:cs typeface="Calibri"/>
                <a:sym typeface="Calibri"/>
              </a:rPr>
              <a:t>No ad performance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1"/>
          <p:cNvSpPr/>
          <p:nvPr/>
        </p:nvSpPr>
        <p:spPr>
          <a:xfrm>
            <a:off x="3749040" y="4160520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A2A38"/>
                </a:solidFill>
                <a:latin typeface="Calibri"/>
                <a:ea typeface="Calibri"/>
                <a:cs typeface="Calibri"/>
                <a:sym typeface="Calibri"/>
              </a:rPr>
              <a:t>Impressions, clicks, and conversions aren't tracked, so we can't measure campaign ROI directly.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1"/>
          <p:cNvSpPr/>
          <p:nvPr/>
        </p:nvSpPr>
        <p:spPr>
          <a:xfrm>
            <a:off x="8915400" y="416052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32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1327A"/>
                </a:solidFill>
                <a:latin typeface="Calibri"/>
                <a:ea typeface="Calibri"/>
                <a:cs typeface="Calibri"/>
                <a:sym typeface="Calibri"/>
              </a:rPr>
              <a:t>Integrate ad-platform data with engagement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1"/>
          <p:cNvSpPr/>
          <p:nvPr/>
        </p:nvSpPr>
        <p:spPr>
          <a:xfrm>
            <a:off x="548640" y="5166360"/>
            <a:ext cx="10881360" cy="960120"/>
          </a:xfrm>
          <a:prstGeom prst="roundRect">
            <a:avLst>
              <a:gd fmla="val 5714" name="adj"/>
            </a:avLst>
          </a:prstGeom>
          <a:solidFill>
            <a:srgbClr val="F7F5FC"/>
          </a:solidFill>
          <a:ln cap="flat" cmpd="sng" w="12700">
            <a:solidFill>
              <a:srgbClr val="E4DF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1"/>
          <p:cNvSpPr/>
          <p:nvPr/>
        </p:nvSpPr>
        <p:spPr>
          <a:xfrm>
            <a:off x="777240" y="5257800"/>
            <a:ext cx="2834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1E4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41E4E"/>
                </a:solidFill>
                <a:latin typeface="Calibri"/>
                <a:ea typeface="Calibri"/>
                <a:cs typeface="Calibri"/>
                <a:sym typeface="Calibri"/>
              </a:rPr>
              <a:t>Timestamps not historical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1"/>
          <p:cNvSpPr/>
          <p:nvPr/>
        </p:nvSpPr>
        <p:spPr>
          <a:xfrm>
            <a:off x="3749040" y="5257800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A2A38"/>
                </a:solidFill>
                <a:latin typeface="Calibri"/>
                <a:ea typeface="Calibri"/>
                <a:cs typeface="Calibri"/>
                <a:sym typeface="Calibri"/>
              </a:rPr>
              <a:t>Activity dates in this snapshot don't reflect real posting history, limiting time-based trend analysis.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1"/>
          <p:cNvSpPr/>
          <p:nvPr/>
        </p:nvSpPr>
        <p:spPr>
          <a:xfrm>
            <a:off x="8915400" y="525780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32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1327A"/>
                </a:solidFill>
                <a:latin typeface="Calibri"/>
                <a:ea typeface="Calibri"/>
                <a:cs typeface="Calibri"/>
                <a:sym typeface="Calibri"/>
              </a:rPr>
              <a:t>Preserve real historical timestamps in production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Instagram User Engagement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7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7B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1E4E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2"/>
          <p:cNvSpPr/>
          <p:nvPr/>
        </p:nvSpPr>
        <p:spPr>
          <a:xfrm>
            <a:off x="-2286000" y="-2286000"/>
            <a:ext cx="5943600" cy="5943600"/>
          </a:xfrm>
          <a:prstGeom prst="ellipse">
            <a:avLst/>
          </a:prstGeom>
          <a:solidFill>
            <a:srgbClr val="4C3AA8">
              <a:alpha val="6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2"/>
          <p:cNvSpPr/>
          <p:nvPr/>
        </p:nvSpPr>
        <p:spPr>
          <a:xfrm>
            <a:off x="8961120" y="3474720"/>
            <a:ext cx="5029200" cy="5029200"/>
          </a:xfrm>
          <a:prstGeom prst="ellipse">
            <a:avLst/>
          </a:prstGeom>
          <a:solidFill>
            <a:srgbClr val="C1327A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2"/>
          <p:cNvSpPr/>
          <p:nvPr/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2"/>
          <p:cNvSpPr/>
          <p:nvPr/>
        </p:nvSpPr>
        <p:spPr>
          <a:xfrm>
            <a:off x="822960" y="36118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BEF0"/>
              </a:buClr>
              <a:buSzPts val="1800"/>
              <a:buFont typeface="Calibri"/>
              <a:buNone/>
            </a:pPr>
            <a:r>
              <a:rPr i="1" lang="en-US" sz="1800">
                <a:solidFill>
                  <a:srgbClr val="C9BEF0"/>
                </a:solidFill>
                <a:latin typeface="Calibri"/>
                <a:ea typeface="Calibri"/>
                <a:cs typeface="Calibri"/>
                <a:sym typeface="Calibri"/>
              </a:rPr>
              <a:t>22/Aug/2026</a:t>
            </a:r>
            <a:br>
              <a:rPr i="1" lang="en-US" sz="1800">
                <a:solidFill>
                  <a:srgbClr val="C9BE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n-US" sz="1800">
                <a:solidFill>
                  <a:srgbClr val="C9BEF0"/>
                </a:solidFill>
                <a:latin typeface="Calibri"/>
                <a:ea typeface="Calibri"/>
                <a:cs typeface="Calibri"/>
                <a:sym typeface="Calibri"/>
              </a:rPr>
              <a:t>Pooja Heera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